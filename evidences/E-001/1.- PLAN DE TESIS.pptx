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75" r:id="rId2"/>
    <p:sldId id="276" r:id="rId3"/>
    <p:sldId id="277" r:id="rId4"/>
    <p:sldId id="280" r:id="rId5"/>
    <p:sldId id="281" r:id="rId6"/>
    <p:sldId id="282" r:id="rId7"/>
    <p:sldId id="284" r:id="rId8"/>
    <p:sldId id="289" r:id="rId9"/>
    <p:sldId id="285" r:id="rId10"/>
    <p:sldId id="286" r:id="rId11"/>
    <p:sldId id="287" r:id="rId12"/>
    <p:sldId id="288" r:id="rId13"/>
  </p:sldIdLst>
  <p:sldSz cx="9144000" cy="6858000" type="screen4x3"/>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59" autoAdjust="0"/>
    <p:restoredTop sz="94660"/>
  </p:normalViewPr>
  <p:slideViewPr>
    <p:cSldViewPr>
      <p:cViewPr varScale="1">
        <p:scale>
          <a:sx n="107" d="100"/>
          <a:sy n="107" d="100"/>
        </p:scale>
        <p:origin x="1512"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DEE104-01C7-45BB-8D6F-638450519B50}" type="datetimeFigureOut">
              <a:rPr lang="es-PE" smtClean="0"/>
              <a:t>31/10/2025</a:t>
            </a:fld>
            <a:endParaRPr lang="es-PE"/>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53B6EB-D4B9-4D5C-AABB-0176C4EEAED6}" type="slidenum">
              <a:rPr lang="es-PE" smtClean="0"/>
              <a:t>‹Nº›</a:t>
            </a:fld>
            <a:endParaRPr lang="es-PE"/>
          </a:p>
        </p:txBody>
      </p:sp>
    </p:spTree>
    <p:extLst>
      <p:ext uri="{BB962C8B-B14F-4D97-AF65-F5344CB8AC3E}">
        <p14:creationId xmlns:p14="http://schemas.microsoft.com/office/powerpoint/2010/main" val="103601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5" name="Footer Placeholder 4"/>
          <p:cNvSpPr>
            <a:spLocks noGrp="1"/>
          </p:cNvSpPr>
          <p:nvPr>
            <p:ph type="ftr" sz="quarter" idx="11"/>
          </p:nvPr>
        </p:nvSpPr>
        <p:spPr/>
        <p:txBody>
          <a:bodyPr/>
          <a:lstStyle/>
          <a:p>
            <a:endParaRPr lang="es-ES">
              <a:solidFill>
                <a:srgbClr val="073E87"/>
              </a:solidFill>
            </a:endParaRPr>
          </a:p>
        </p:txBody>
      </p:sp>
      <p:sp>
        <p:nvSpPr>
          <p:cNvPr id="6" name="Slide Number Placeholder 5"/>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Tree>
    <p:extLst>
      <p:ext uri="{BB962C8B-B14F-4D97-AF65-F5344CB8AC3E}">
        <p14:creationId xmlns:p14="http://schemas.microsoft.com/office/powerpoint/2010/main" val="37483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5" name="Footer Placeholder 4"/>
          <p:cNvSpPr>
            <a:spLocks noGrp="1"/>
          </p:cNvSpPr>
          <p:nvPr>
            <p:ph type="ftr" sz="quarter" idx="11"/>
          </p:nvPr>
        </p:nvSpPr>
        <p:spPr/>
        <p:txBody>
          <a:bodyPr/>
          <a:lstStyle/>
          <a:p>
            <a:endParaRPr lang="es-ES">
              <a:solidFill>
                <a:srgbClr val="073E87"/>
              </a:solidFill>
            </a:endParaRPr>
          </a:p>
        </p:txBody>
      </p:sp>
      <p:sp>
        <p:nvSpPr>
          <p:cNvPr id="6" name="Slide Number Placeholder 5"/>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
        <p:nvSpPr>
          <p:cNvPr id="7" name="Title 6"/>
          <p:cNvSpPr>
            <a:spLocks noGrp="1"/>
          </p:cNvSpPr>
          <p:nvPr>
            <p:ph type="title"/>
          </p:nvPr>
        </p:nvSpPr>
        <p:spPr/>
        <p:txBody>
          <a:bodyPr/>
          <a:lstStyle/>
          <a:p>
            <a:r>
              <a:rPr lang="es-ES"/>
              <a:t>Haga clic para modificar el estilo de título del patrón</a:t>
            </a:r>
            <a:endParaRPr lang="en-US"/>
          </a:p>
        </p:txBody>
      </p:sp>
    </p:spTree>
    <p:extLst>
      <p:ext uri="{BB962C8B-B14F-4D97-AF65-F5344CB8AC3E}">
        <p14:creationId xmlns:p14="http://schemas.microsoft.com/office/powerpoint/2010/main" val="104737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5" name="Footer Placeholder 4"/>
          <p:cNvSpPr>
            <a:spLocks noGrp="1"/>
          </p:cNvSpPr>
          <p:nvPr>
            <p:ph type="ftr" sz="quarter" idx="11"/>
          </p:nvPr>
        </p:nvSpPr>
        <p:spPr/>
        <p:txBody>
          <a:bodyPr/>
          <a:lstStyle/>
          <a:p>
            <a:endParaRPr lang="es-ES">
              <a:solidFill>
                <a:srgbClr val="073E87"/>
              </a:solidFill>
            </a:endParaRPr>
          </a:p>
        </p:txBody>
      </p:sp>
      <p:sp>
        <p:nvSpPr>
          <p:cNvPr id="6" name="Slide Number Placeholder 5"/>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Tree>
    <p:extLst>
      <p:ext uri="{BB962C8B-B14F-4D97-AF65-F5344CB8AC3E}">
        <p14:creationId xmlns:p14="http://schemas.microsoft.com/office/powerpoint/2010/main" val="2199295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5" name="Date Placeholder 4"/>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6" name="Footer Placeholder 5"/>
          <p:cNvSpPr>
            <a:spLocks noGrp="1"/>
          </p:cNvSpPr>
          <p:nvPr>
            <p:ph type="ftr" sz="quarter" idx="11"/>
          </p:nvPr>
        </p:nvSpPr>
        <p:spPr/>
        <p:txBody>
          <a:bodyPr/>
          <a:lstStyle/>
          <a:p>
            <a:endParaRPr lang="es-ES">
              <a:solidFill>
                <a:srgbClr val="073E87"/>
              </a:solidFill>
            </a:endParaRPr>
          </a:p>
        </p:txBody>
      </p:sp>
      <p:sp>
        <p:nvSpPr>
          <p:cNvPr id="7" name="Slide Number Placeholder 6"/>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
        <p:nvSpPr>
          <p:cNvPr id="9" name="Content Placeholder 8"/>
          <p:cNvSpPr>
            <a:spLocks noGrp="1"/>
          </p:cNvSpPr>
          <p:nvPr>
            <p:ph sz="quarter" idx="13"/>
          </p:nvPr>
        </p:nvSpPr>
        <p:spPr>
          <a:xfrm>
            <a:off x="676655" y="2679192"/>
            <a:ext cx="3822192" cy="34472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429668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8" name="Footer Placeholder 7"/>
          <p:cNvSpPr>
            <a:spLocks noGrp="1"/>
          </p:cNvSpPr>
          <p:nvPr>
            <p:ph type="ftr" sz="quarter" idx="11"/>
          </p:nvPr>
        </p:nvSpPr>
        <p:spPr/>
        <p:txBody>
          <a:bodyPr/>
          <a:lstStyle/>
          <a:p>
            <a:endParaRPr lang="es-ES">
              <a:solidFill>
                <a:srgbClr val="073E87"/>
              </a:solidFill>
            </a:endParaRPr>
          </a:p>
        </p:txBody>
      </p:sp>
      <p:sp>
        <p:nvSpPr>
          <p:cNvPr id="9" name="Slide Number Placeholder 8"/>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Tree>
    <p:extLst>
      <p:ext uri="{BB962C8B-B14F-4D97-AF65-F5344CB8AC3E}">
        <p14:creationId xmlns:p14="http://schemas.microsoft.com/office/powerpoint/2010/main" val="41173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4" name="Footer Placeholder 3"/>
          <p:cNvSpPr>
            <a:spLocks noGrp="1"/>
          </p:cNvSpPr>
          <p:nvPr>
            <p:ph type="ftr" sz="quarter" idx="11"/>
          </p:nvPr>
        </p:nvSpPr>
        <p:spPr/>
        <p:txBody>
          <a:bodyPr/>
          <a:lstStyle/>
          <a:p>
            <a:endParaRPr lang="es-ES">
              <a:solidFill>
                <a:srgbClr val="073E87"/>
              </a:solidFill>
            </a:endParaRPr>
          </a:p>
        </p:txBody>
      </p:sp>
      <p:sp>
        <p:nvSpPr>
          <p:cNvPr id="5" name="Slide Number Placeholder 4"/>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Tree>
    <p:extLst>
      <p:ext uri="{BB962C8B-B14F-4D97-AF65-F5344CB8AC3E}">
        <p14:creationId xmlns:p14="http://schemas.microsoft.com/office/powerpoint/2010/main" val="3241912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Date Placeholder 1"/>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3" name="Footer Placeholder 2"/>
          <p:cNvSpPr>
            <a:spLocks noGrp="1"/>
          </p:cNvSpPr>
          <p:nvPr>
            <p:ph type="ftr" sz="quarter" idx="11"/>
          </p:nvPr>
        </p:nvSpPr>
        <p:spPr/>
        <p:txBody>
          <a:bodyPr/>
          <a:lstStyle/>
          <a:p>
            <a:endParaRPr lang="es-ES">
              <a:solidFill>
                <a:srgbClr val="073E87"/>
              </a:solidFill>
            </a:endParaRPr>
          </a:p>
        </p:txBody>
      </p:sp>
      <p:sp>
        <p:nvSpPr>
          <p:cNvPr id="4" name="Slide Number Placeholder 3"/>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Tree>
    <p:extLst>
      <p:ext uri="{BB962C8B-B14F-4D97-AF65-F5344CB8AC3E}">
        <p14:creationId xmlns:p14="http://schemas.microsoft.com/office/powerpoint/2010/main" val="48569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6" name="Footer Placeholder 5"/>
          <p:cNvSpPr>
            <a:spLocks noGrp="1"/>
          </p:cNvSpPr>
          <p:nvPr>
            <p:ph type="ftr" sz="quarter" idx="11"/>
          </p:nvPr>
        </p:nvSpPr>
        <p:spPr/>
        <p:txBody>
          <a:bodyPr/>
          <a:lstStyle/>
          <a:p>
            <a:endParaRPr lang="es-ES">
              <a:solidFill>
                <a:srgbClr val="073E87"/>
              </a:solidFill>
            </a:endParaRPr>
          </a:p>
        </p:txBody>
      </p:sp>
      <p:sp>
        <p:nvSpPr>
          <p:cNvPr id="7" name="Slide Number Placeholder 6"/>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06040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6" name="Footer Placeholder 5"/>
          <p:cNvSpPr>
            <a:spLocks noGrp="1"/>
          </p:cNvSpPr>
          <p:nvPr>
            <p:ph type="ftr" sz="quarter" idx="11"/>
          </p:nvPr>
        </p:nvSpPr>
        <p:spPr/>
        <p:txBody>
          <a:bodyPr/>
          <a:lstStyle/>
          <a:p>
            <a:endParaRPr lang="es-ES">
              <a:solidFill>
                <a:srgbClr val="073E87"/>
              </a:solidFill>
            </a:endParaRPr>
          </a:p>
        </p:txBody>
      </p:sp>
      <p:sp>
        <p:nvSpPr>
          <p:cNvPr id="7" name="Slide Number Placeholder 6"/>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Tree>
    <p:extLst>
      <p:ext uri="{BB962C8B-B14F-4D97-AF65-F5344CB8AC3E}">
        <p14:creationId xmlns:p14="http://schemas.microsoft.com/office/powerpoint/2010/main" val="538817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5" name="Footer Placeholder 4"/>
          <p:cNvSpPr>
            <a:spLocks noGrp="1"/>
          </p:cNvSpPr>
          <p:nvPr>
            <p:ph type="ftr" sz="quarter" idx="11"/>
          </p:nvPr>
        </p:nvSpPr>
        <p:spPr/>
        <p:txBody>
          <a:bodyPr/>
          <a:lstStyle/>
          <a:p>
            <a:endParaRPr lang="es-ES">
              <a:solidFill>
                <a:srgbClr val="073E87"/>
              </a:solidFill>
            </a:endParaRPr>
          </a:p>
        </p:txBody>
      </p:sp>
      <p:sp>
        <p:nvSpPr>
          <p:cNvPr id="6" name="Slide Number Placeholder 5"/>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spTree>
    <p:extLst>
      <p:ext uri="{BB962C8B-B14F-4D97-AF65-F5344CB8AC3E}">
        <p14:creationId xmlns:p14="http://schemas.microsoft.com/office/powerpoint/2010/main" val="3678309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Date Placeholder 3"/>
          <p:cNvSpPr>
            <a:spLocks noGrp="1"/>
          </p:cNvSpPr>
          <p:nvPr>
            <p:ph type="dt" sz="half" idx="10"/>
          </p:nvPr>
        </p:nvSpPr>
        <p:spPr/>
        <p:txBody>
          <a:body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5" name="Footer Placeholder 4"/>
          <p:cNvSpPr>
            <a:spLocks noGrp="1"/>
          </p:cNvSpPr>
          <p:nvPr>
            <p:ph type="ftr" sz="quarter" idx="11"/>
          </p:nvPr>
        </p:nvSpPr>
        <p:spPr/>
        <p:txBody>
          <a:bodyPr/>
          <a:lstStyle/>
          <a:p>
            <a:endParaRPr lang="es-ES">
              <a:solidFill>
                <a:srgbClr val="073E87"/>
              </a:solidFill>
            </a:endParaRPr>
          </a:p>
        </p:txBody>
      </p:sp>
      <p:sp>
        <p:nvSpPr>
          <p:cNvPr id="6" name="Slide Number Placeholder 5"/>
          <p:cNvSpPr>
            <a:spLocks noGrp="1"/>
          </p:cNvSpPr>
          <p:nvPr>
            <p:ph type="sldNum" sz="quarter" idx="12"/>
          </p:nvPr>
        </p:nvSpPr>
        <p:spPr/>
        <p:txBody>
          <a:bodyPr/>
          <a:lstStyle/>
          <a:p>
            <a:fld id="{6B2B377D-505C-4AF2-8B66-E8336D0953EA}" type="slidenum">
              <a:rPr lang="es-ES" smtClean="0">
                <a:solidFill>
                  <a:srgbClr val="073E87"/>
                </a:solidFill>
              </a:rPr>
              <a:pPr/>
              <a:t>‹Nº›</a:t>
            </a:fld>
            <a:endParaRPr lang="es-ES">
              <a:solidFill>
                <a:srgbClr val="073E87"/>
              </a:solidFill>
            </a:endParaRPr>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889527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6211D682-F0D0-4AA2-A30E-E672A2011BFD}" type="datetimeFigureOut">
              <a:rPr lang="es-ES" smtClean="0">
                <a:solidFill>
                  <a:srgbClr val="073E87"/>
                </a:solidFill>
              </a:rPr>
              <a:pPr/>
              <a:t>31/10/2025</a:t>
            </a:fld>
            <a:endParaRPr lang="es-ES">
              <a:solidFill>
                <a:srgbClr val="073E87"/>
              </a:solidFill>
            </a:endParaRPr>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s-ES">
              <a:solidFill>
                <a:srgbClr val="073E87"/>
              </a:solidFill>
            </a:endParaRPr>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B2B377D-505C-4AF2-8B66-E8336D0953EA}" type="slidenum">
              <a:rPr lang="es-ES" smtClean="0">
                <a:solidFill>
                  <a:srgbClr val="073E87"/>
                </a:solidFill>
              </a:rPr>
              <a:pPr/>
              <a:t>‹Nº›</a:t>
            </a:fld>
            <a:endParaRPr lang="es-ES">
              <a:solidFill>
                <a:srgbClr val="073E87"/>
              </a:solidFill>
            </a:endParaRPr>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9344145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51520" y="188640"/>
            <a:ext cx="8712968" cy="576064"/>
          </a:xfrm>
        </p:spPr>
        <p:txBody>
          <a:bodyPr>
            <a:normAutofit/>
          </a:bodyPr>
          <a:lstStyle/>
          <a:p>
            <a:r>
              <a:rPr lang="es-PE" sz="2400" b="1" dirty="0">
                <a:solidFill>
                  <a:schemeClr val="tx1"/>
                </a:solidFill>
              </a:rPr>
              <a:t>UNIVERSIDAD NACIONAL FEDERICO VILLARREAL</a:t>
            </a:r>
            <a:endParaRPr lang="es-PE" sz="2400" dirty="0">
              <a:solidFill>
                <a:schemeClr val="tx1"/>
              </a:solidFill>
            </a:endParaRPr>
          </a:p>
        </p:txBody>
      </p:sp>
      <p:sp>
        <p:nvSpPr>
          <p:cNvPr id="4" name="2 Subtítulo"/>
          <p:cNvSpPr txBox="1">
            <a:spLocks/>
          </p:cNvSpPr>
          <p:nvPr/>
        </p:nvSpPr>
        <p:spPr>
          <a:xfrm>
            <a:off x="1403648" y="764704"/>
            <a:ext cx="6400800" cy="576064"/>
          </a:xfrm>
          <a:prstGeom prst="rect">
            <a:avLst/>
          </a:prstGeom>
        </p:spPr>
        <p:txBody>
          <a:bodyPr vert="horz" lIns="91440" tIns="45720" rIns="91440" bIns="45720" rtlCol="0">
            <a:normAutofit/>
          </a:bodyPr>
          <a:lstStyle/>
          <a:p>
            <a:pPr algn="ctr">
              <a:spcBef>
                <a:spcPct val="20000"/>
              </a:spcBef>
              <a:buClr>
                <a:srgbClr val="31B6FD"/>
              </a:buClr>
              <a:buSzPct val="100000"/>
              <a:buFont typeface="Symbol" pitchFamily="18" charset="2"/>
              <a:buNone/>
              <a:defRPr/>
            </a:pPr>
            <a:r>
              <a:rPr lang="es-PE" sz="2000" dirty="0">
                <a:solidFill>
                  <a:srgbClr val="073E87"/>
                </a:solidFill>
              </a:rPr>
              <a:t>ESCUELA UNIVERSITARIA DE POSGRADO</a:t>
            </a:r>
          </a:p>
        </p:txBody>
      </p:sp>
      <p:pic>
        <p:nvPicPr>
          <p:cNvPr id="28674" name="Picture 2"/>
          <p:cNvPicPr>
            <a:picLocks noChangeAspect="1" noChangeArrowheads="1"/>
          </p:cNvPicPr>
          <p:nvPr/>
        </p:nvPicPr>
        <p:blipFill>
          <a:blip r:embed="rId2" cstate="email"/>
          <a:srcRect/>
          <a:stretch>
            <a:fillRect/>
          </a:stretch>
        </p:blipFill>
        <p:spPr bwMode="auto">
          <a:xfrm>
            <a:off x="3995936" y="1196752"/>
            <a:ext cx="1035050" cy="2751138"/>
          </a:xfrm>
          <a:prstGeom prst="rect">
            <a:avLst/>
          </a:prstGeom>
          <a:solidFill>
            <a:srgbClr val="FFFFFF"/>
          </a:solidFill>
          <a:ln w="9525">
            <a:noFill/>
            <a:miter lim="800000"/>
            <a:headEnd/>
            <a:tailEnd/>
          </a:ln>
        </p:spPr>
      </p:pic>
      <p:sp>
        <p:nvSpPr>
          <p:cNvPr id="28675" name="Rectangle 3"/>
          <p:cNvSpPr>
            <a:spLocks noChangeArrowheads="1"/>
          </p:cNvSpPr>
          <p:nvPr/>
        </p:nvSpPr>
        <p:spPr bwMode="auto">
          <a:xfrm>
            <a:off x="899592" y="4106198"/>
            <a:ext cx="748883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lang="es-PE" altLang="zh-CN" sz="1600" dirty="0">
                <a:solidFill>
                  <a:prstClr val="black"/>
                </a:solidFill>
                <a:latin typeface="Arial" pitchFamily="34" charset="0"/>
                <a:ea typeface="Calibri" pitchFamily="34" charset="0"/>
                <a:cs typeface="Times New Roman" pitchFamily="18" charset="0"/>
              </a:rPr>
              <a:t>MAESTRIA EN GERENCIA DE LA CONSTRUCCIÓN MODERNA</a:t>
            </a:r>
            <a:endParaRPr lang="es-PE" altLang="zh-CN" sz="600" dirty="0">
              <a:solidFill>
                <a:prstClr val="black"/>
              </a:solidFill>
              <a:latin typeface="Arial" pitchFamily="34" charset="0"/>
              <a:cs typeface="Arial" pitchFamily="34" charset="0"/>
            </a:endParaRPr>
          </a:p>
          <a:p>
            <a:pPr algn="ctr" eaLnBrk="0" fontAlgn="base" hangingPunct="0">
              <a:spcBef>
                <a:spcPct val="0"/>
              </a:spcBef>
              <a:spcAft>
                <a:spcPct val="0"/>
              </a:spcAft>
            </a:pPr>
            <a:r>
              <a:rPr lang="es-PE" altLang="zh-CN" sz="1600" dirty="0">
                <a:solidFill>
                  <a:prstClr val="black"/>
                </a:solidFill>
                <a:latin typeface="Arial" pitchFamily="34" charset="0"/>
                <a:cs typeface="Times New Roman" pitchFamily="18" charset="0"/>
              </a:rPr>
              <a:t>INVESTIGACIÓN I</a:t>
            </a:r>
            <a:endParaRPr lang="es-PE" altLang="zh-CN" sz="600" dirty="0">
              <a:solidFill>
                <a:prstClr val="black"/>
              </a:solidFill>
              <a:latin typeface="Arial" pitchFamily="34" charset="0"/>
              <a:cs typeface="Arial" pitchFamily="34" charset="0"/>
            </a:endParaRPr>
          </a:p>
          <a:p>
            <a:pPr algn="ctr" eaLnBrk="0" fontAlgn="base" hangingPunct="0">
              <a:spcBef>
                <a:spcPct val="0"/>
              </a:spcBef>
              <a:spcAft>
                <a:spcPct val="0"/>
              </a:spcAft>
            </a:pPr>
            <a:r>
              <a:rPr lang="es-PE" altLang="zh-CN" sz="1600" dirty="0">
                <a:solidFill>
                  <a:prstClr val="black"/>
                </a:solidFill>
                <a:latin typeface="Arial" pitchFamily="34" charset="0"/>
                <a:ea typeface="Calibri" pitchFamily="34" charset="0"/>
                <a:cs typeface="Times New Roman" pitchFamily="18" charset="0"/>
              </a:rPr>
              <a:t>DOCENTE: Dr. Carlos Magno </a:t>
            </a:r>
            <a:r>
              <a:rPr lang="es-PE" altLang="zh-CN" sz="1600" dirty="0" err="1">
                <a:solidFill>
                  <a:prstClr val="black"/>
                </a:solidFill>
                <a:latin typeface="Arial" pitchFamily="34" charset="0"/>
                <a:ea typeface="Calibri" pitchFamily="34" charset="0"/>
                <a:cs typeface="Times New Roman" pitchFamily="18" charset="0"/>
              </a:rPr>
              <a:t>Chavarry</a:t>
            </a:r>
            <a:r>
              <a:rPr lang="es-PE" altLang="zh-CN" sz="1600" dirty="0">
                <a:solidFill>
                  <a:prstClr val="black"/>
                </a:solidFill>
                <a:latin typeface="Arial" pitchFamily="34" charset="0"/>
                <a:ea typeface="Calibri" pitchFamily="34" charset="0"/>
                <a:cs typeface="Times New Roman" pitchFamily="18" charset="0"/>
              </a:rPr>
              <a:t> Vallejos </a:t>
            </a:r>
            <a:endParaRPr lang="es-PE" altLang="zh-CN" dirty="0">
              <a:solidFill>
                <a:prstClr val="black"/>
              </a:solidFill>
              <a:latin typeface="Arial" pitchFamily="34" charset="0"/>
              <a:cs typeface="Arial" pitchFamily="34" charset="0"/>
            </a:endParaRPr>
          </a:p>
        </p:txBody>
      </p:sp>
      <p:sp>
        <p:nvSpPr>
          <p:cNvPr id="3" name="2 CuadroTexto"/>
          <p:cNvSpPr txBox="1"/>
          <p:nvPr/>
        </p:nvSpPr>
        <p:spPr>
          <a:xfrm>
            <a:off x="2235179" y="5697658"/>
            <a:ext cx="4556564" cy="646331"/>
          </a:xfrm>
          <a:prstGeom prst="rect">
            <a:avLst/>
          </a:prstGeom>
          <a:noFill/>
        </p:spPr>
        <p:txBody>
          <a:bodyPr wrap="square" rtlCol="0">
            <a:spAutoFit/>
          </a:bodyPr>
          <a:lstStyle/>
          <a:p>
            <a:endParaRPr lang="es-PE" dirty="0">
              <a:solidFill>
                <a:prstClr val="black"/>
              </a:solidFill>
            </a:endParaRPr>
          </a:p>
          <a:p>
            <a:r>
              <a:rPr lang="es-PE" dirty="0">
                <a:solidFill>
                  <a:prstClr val="black"/>
                </a:solidFill>
              </a:rPr>
              <a:t>PRESENTADO : HORACIO OLAYA ESPÍRITU</a:t>
            </a:r>
          </a:p>
        </p:txBody>
      </p:sp>
      <p:sp>
        <p:nvSpPr>
          <p:cNvPr id="5" name="CuadroTexto 4"/>
          <p:cNvSpPr txBox="1"/>
          <p:nvPr/>
        </p:nvSpPr>
        <p:spPr>
          <a:xfrm>
            <a:off x="503548" y="4901928"/>
            <a:ext cx="8280920" cy="646331"/>
          </a:xfrm>
          <a:prstGeom prst="rect">
            <a:avLst/>
          </a:prstGeom>
          <a:noFill/>
        </p:spPr>
        <p:txBody>
          <a:bodyPr wrap="square" rtlCol="0">
            <a:spAutoFit/>
          </a:bodyPr>
          <a:lstStyle/>
          <a:p>
            <a:r>
              <a:rPr lang="es-PE" dirty="0"/>
              <a:t>TITULO: GESTIÓN DE COSTOS PARA EL MONITOREO DEL ESTADO SITUACIONAL DE LOS CENTROS EDUCATIVOS – CARBAYLLO 2018</a:t>
            </a:r>
          </a:p>
        </p:txBody>
      </p:sp>
    </p:spTree>
    <p:extLst>
      <p:ext uri="{BB962C8B-B14F-4D97-AF65-F5344CB8AC3E}">
        <p14:creationId xmlns:p14="http://schemas.microsoft.com/office/powerpoint/2010/main" val="2931432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fontScale="62500" lnSpcReduction="20000"/>
          </a:bodyPr>
          <a:lstStyle/>
          <a:p>
            <a:pPr marL="0" indent="0" algn="ctr">
              <a:buNone/>
            </a:pPr>
            <a:r>
              <a:rPr lang="es-PE" b="1" dirty="0">
                <a:solidFill>
                  <a:schemeClr val="tx1"/>
                </a:solidFill>
                <a:latin typeface="Arial" panose="020B0604020202020204" pitchFamily="34" charset="0"/>
                <a:cs typeface="Arial" panose="020B0604020202020204" pitchFamily="34" charset="0"/>
              </a:rPr>
              <a:t>PLANTEAMIENTO DEL PROBLEMA</a:t>
            </a:r>
            <a:endParaRPr lang="es-PE" dirty="0">
              <a:solidFill>
                <a:schemeClr val="tx1"/>
              </a:solidFill>
              <a:latin typeface="Arial" panose="020B0604020202020204" pitchFamily="34" charset="0"/>
              <a:cs typeface="Arial" panose="020B0604020202020204" pitchFamily="34" charset="0"/>
            </a:endParaRPr>
          </a:p>
          <a:p>
            <a:r>
              <a:rPr lang="es-PE" b="1" dirty="0">
                <a:solidFill>
                  <a:schemeClr val="tx1"/>
                </a:solidFill>
                <a:latin typeface="Arial" panose="020B0604020202020204" pitchFamily="34" charset="0"/>
                <a:cs typeface="Arial" panose="020B0604020202020204" pitchFamily="34" charset="0"/>
              </a:rPr>
              <a:t>Descripción de la realidad problemática</a:t>
            </a:r>
            <a:endParaRPr lang="es-PE" dirty="0">
              <a:solidFill>
                <a:schemeClr val="tx1"/>
              </a:solidFill>
              <a:latin typeface="Arial" panose="020B0604020202020204" pitchFamily="34" charset="0"/>
              <a:cs typeface="Arial" panose="020B0604020202020204" pitchFamily="34" charset="0"/>
            </a:endParaRPr>
          </a:p>
          <a:p>
            <a:r>
              <a:rPr lang="es-PE" dirty="0">
                <a:solidFill>
                  <a:schemeClr val="tx1"/>
                </a:solidFill>
                <a:latin typeface="Arial" panose="020B0604020202020204" pitchFamily="34" charset="0"/>
                <a:cs typeface="Arial" panose="020B0604020202020204" pitchFamily="34" charset="0"/>
              </a:rPr>
              <a:t>En Estados Unidos en 1987 se crea la Guía de PMBOK y es reconocida como estándar por el American Nacional </a:t>
            </a:r>
            <a:r>
              <a:rPr lang="es-PE" dirty="0" err="1">
                <a:solidFill>
                  <a:schemeClr val="tx1"/>
                </a:solidFill>
                <a:latin typeface="Arial" panose="020B0604020202020204" pitchFamily="34" charset="0"/>
                <a:cs typeface="Arial" panose="020B0604020202020204" pitchFamily="34" charset="0"/>
              </a:rPr>
              <a:t>Standards</a:t>
            </a:r>
            <a:r>
              <a:rPr lang="es-PE" dirty="0">
                <a:solidFill>
                  <a:schemeClr val="tx1"/>
                </a:solidFill>
                <a:latin typeface="Arial" panose="020B0604020202020204" pitchFamily="34" charset="0"/>
                <a:cs typeface="Arial" panose="020B0604020202020204" pitchFamily="34" charset="0"/>
              </a:rPr>
              <a:t> </a:t>
            </a:r>
            <a:r>
              <a:rPr lang="es-PE" dirty="0" err="1">
                <a:solidFill>
                  <a:schemeClr val="tx1"/>
                </a:solidFill>
                <a:latin typeface="Arial" panose="020B0604020202020204" pitchFamily="34" charset="0"/>
                <a:cs typeface="Arial" panose="020B0604020202020204" pitchFamily="34" charset="0"/>
              </a:rPr>
              <a:t>Institute</a:t>
            </a:r>
            <a:r>
              <a:rPr lang="es-PE" dirty="0">
                <a:solidFill>
                  <a:schemeClr val="tx1"/>
                </a:solidFill>
                <a:latin typeface="Arial" panose="020B0604020202020204" pitchFamily="34" charset="0"/>
                <a:cs typeface="Arial" panose="020B0604020202020204" pitchFamily="34" charset="0"/>
              </a:rPr>
              <a:t> (ANSI). El problema de muchas empresas siempre fue como saber si en un determinado tiempo estás perdiendo o estas ganando es por ello que la gestión del valor ganado evalúa el desempeño y el avance del proyecto de tal manera que con ello se puede monitorear en cualquier momento el estado situacional en la construcción de proyectos.</a:t>
            </a:r>
          </a:p>
          <a:p>
            <a:r>
              <a:rPr lang="es-PE" dirty="0">
                <a:solidFill>
                  <a:schemeClr val="tx1"/>
                </a:solidFill>
                <a:latin typeface="Arial" panose="020B0604020202020204" pitchFamily="34" charset="0"/>
                <a:cs typeface="Arial" panose="020B0604020202020204" pitchFamily="34" charset="0"/>
              </a:rPr>
              <a:t>En América los primeros países que implementaron la guía del PMBOK fueron Panamá, Chile, Colombia y México. </a:t>
            </a:r>
          </a:p>
          <a:p>
            <a:r>
              <a:rPr lang="es-PE" dirty="0">
                <a:solidFill>
                  <a:schemeClr val="tx1"/>
                </a:solidFill>
                <a:latin typeface="Arial" panose="020B0604020202020204" pitchFamily="34" charset="0"/>
                <a:cs typeface="Arial" panose="020B0604020202020204" pitchFamily="34" charset="0"/>
              </a:rPr>
              <a:t>En el Perú se aplicó la guía del PMBOK en la Central Eléctrica Platanal la más grande en 30 años con capitales peruanos y se realizó en tiempo record.</a:t>
            </a:r>
          </a:p>
          <a:p>
            <a:r>
              <a:rPr lang="es-PE" dirty="0">
                <a:solidFill>
                  <a:schemeClr val="tx1"/>
                </a:solidFill>
                <a:latin typeface="Arial" panose="020B0604020202020204" pitchFamily="34" charset="0"/>
                <a:cs typeface="Arial" panose="020B0604020202020204" pitchFamily="34" charset="0"/>
              </a:rPr>
              <a:t>La gran mayoría de las empresas constructoras peruanas no aplican metodología de gestión de costos ocasionando con ello que estas dejen de obtener mayoras ganancias y que además la obra se concluya en el plazo establecido</a:t>
            </a:r>
            <a:r>
              <a:rPr lang="es-PE" dirty="0">
                <a:solidFill>
                  <a:schemeClr val="tx1"/>
                </a:solidFill>
              </a:rPr>
              <a:t>.</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178435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fontScale="85000" lnSpcReduction="20000"/>
          </a:bodyPr>
          <a:lstStyle/>
          <a:p>
            <a:r>
              <a:rPr lang="es-PE" sz="2100" dirty="0">
                <a:solidFill>
                  <a:schemeClr val="tx1"/>
                </a:solidFill>
                <a:latin typeface="Arial" panose="020B0604020202020204" pitchFamily="34" charset="0"/>
                <a:cs typeface="Arial" panose="020B0604020202020204" pitchFamily="34" charset="0"/>
              </a:rPr>
              <a:t>Si las empresas aplicaran la variación del cronograma</a:t>
            </a:r>
            <a:r>
              <a:rPr lang="es-PE" sz="2100" b="1" dirty="0">
                <a:solidFill>
                  <a:schemeClr val="tx1"/>
                </a:solidFill>
                <a:latin typeface="Arial" panose="020B0604020202020204" pitchFamily="34" charset="0"/>
                <a:cs typeface="Arial" panose="020B0604020202020204" pitchFamily="34" charset="0"/>
              </a:rPr>
              <a:t> (SV)</a:t>
            </a:r>
            <a:r>
              <a:rPr lang="es-PE" sz="2100" dirty="0">
                <a:solidFill>
                  <a:schemeClr val="tx1"/>
                </a:solidFill>
                <a:latin typeface="Arial" panose="020B0604020202020204" pitchFamily="34" charset="0"/>
                <a:cs typeface="Arial" panose="020B0604020202020204" pitchFamily="34" charset="0"/>
              </a:rPr>
              <a:t> en un determinado tiempo estas se darían cuenta en qué porcentaje está el proyecto ósea si se encuentran atrasados y/o adelantados, igualmente si aplicaran el desempeño del costo </a:t>
            </a:r>
            <a:r>
              <a:rPr lang="es-PE" sz="2100" b="1" dirty="0">
                <a:solidFill>
                  <a:schemeClr val="tx1"/>
                </a:solidFill>
                <a:latin typeface="Arial" panose="020B0604020202020204" pitchFamily="34" charset="0"/>
                <a:cs typeface="Arial" panose="020B0604020202020204" pitchFamily="34" charset="0"/>
              </a:rPr>
              <a:t>(CV)</a:t>
            </a:r>
            <a:r>
              <a:rPr lang="es-PE" sz="2100" dirty="0">
                <a:solidFill>
                  <a:schemeClr val="tx1"/>
                </a:solidFill>
                <a:latin typeface="Arial" panose="020B0604020202020204" pitchFamily="34" charset="0"/>
                <a:cs typeface="Arial" panose="020B0604020202020204" pitchFamily="34" charset="0"/>
              </a:rPr>
              <a:t> inmediatamente comprobaría la situación económica en la que se encuentra, asimismo para la aplicación del índice e desempeño del cronograma </a:t>
            </a:r>
            <a:r>
              <a:rPr lang="es-PE" sz="2100" b="1" dirty="0">
                <a:solidFill>
                  <a:schemeClr val="tx1"/>
                </a:solidFill>
                <a:latin typeface="Arial" panose="020B0604020202020204" pitchFamily="34" charset="0"/>
                <a:cs typeface="Arial" panose="020B0604020202020204" pitchFamily="34" charset="0"/>
              </a:rPr>
              <a:t>(SPI)</a:t>
            </a:r>
            <a:r>
              <a:rPr lang="es-PE" sz="2100" dirty="0">
                <a:solidFill>
                  <a:schemeClr val="tx1"/>
                </a:solidFill>
                <a:latin typeface="Arial" panose="020B0604020202020204" pitchFamily="34" charset="0"/>
                <a:cs typeface="Arial" panose="020B0604020202020204" pitchFamily="34" charset="0"/>
              </a:rPr>
              <a:t> verificarían el rendimiento en lo que respecta al cronograma, de la misma forma al aplicar el índice de desempeño del costo en un determinado tiempo se darían cuenta de que tan eficaz han sido en la parte económica.</a:t>
            </a:r>
          </a:p>
          <a:p>
            <a:r>
              <a:rPr lang="es-PE" sz="2100" dirty="0">
                <a:solidFill>
                  <a:schemeClr val="tx1"/>
                </a:solidFill>
                <a:latin typeface="Arial" panose="020B0604020202020204" pitchFamily="34" charset="0"/>
                <a:cs typeface="Arial" panose="020B0604020202020204" pitchFamily="34" charset="0"/>
              </a:rPr>
              <a:t>Es por ello que tan importante es que las empresas empiecen a utilizar estas herramientas de gestión para que obtengan mayores beneficios y de esta manera podrán evaluar el desempeño y el alcance del proyecto.</a:t>
            </a:r>
          </a:p>
          <a:p>
            <a:endParaRPr lang="es-PE" dirty="0"/>
          </a:p>
          <a:p>
            <a:endParaRPr lang="es-PE" dirty="0"/>
          </a:p>
          <a:p>
            <a:endParaRPr lang="es-PE" dirty="0"/>
          </a:p>
          <a:p>
            <a:endParaRPr lang="es-PE" dirty="0"/>
          </a:p>
          <a:p>
            <a:endParaRPr lang="es-PE" dirty="0"/>
          </a:p>
          <a:p>
            <a:endParaRPr lang="es-PE" dirty="0"/>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409775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lnSpcReduction="10000"/>
          </a:bodyPr>
          <a:lstStyle/>
          <a:p>
            <a:pPr marL="0" indent="0" algn="ctr">
              <a:buNone/>
            </a:pPr>
            <a:r>
              <a:rPr lang="es-PE" sz="1900" b="1" dirty="0">
                <a:solidFill>
                  <a:schemeClr val="tx1"/>
                </a:solidFill>
                <a:latin typeface="Arial" panose="020B0604020202020204" pitchFamily="34" charset="0"/>
                <a:cs typeface="Arial" panose="020B0604020202020204" pitchFamily="34" charset="0"/>
              </a:rPr>
              <a:t>Justificación</a:t>
            </a:r>
            <a:endParaRPr lang="es-PE" sz="1900" dirty="0">
              <a:solidFill>
                <a:schemeClr val="tx1"/>
              </a:solidFill>
              <a:latin typeface="Arial" panose="020B0604020202020204" pitchFamily="34" charset="0"/>
              <a:cs typeface="Arial" panose="020B0604020202020204" pitchFamily="34" charset="0"/>
            </a:endParaRPr>
          </a:p>
          <a:p>
            <a:r>
              <a:rPr lang="es-PE" sz="1900" dirty="0">
                <a:solidFill>
                  <a:schemeClr val="tx1"/>
                </a:solidFill>
                <a:latin typeface="Arial" panose="020B0604020202020204" pitchFamily="34" charset="0"/>
                <a:cs typeface="Arial" panose="020B0604020202020204" pitchFamily="34" charset="0"/>
              </a:rPr>
              <a:t>Para la presente investigación se usó la metodología del valor ganado con el fin de revertir las perdidas y/o atrasos dando las medidas preventivas y/o correctivas del caso, con ello se evitara que las obras concluyan con sobrecostos y por ende no se desembolsara más dinero de tal forma que estás sean utilizados en nuevos proyectos, con la aplicación del valor ganado se podrá monitorear el desempeño y el avance de nuestro proyecto, con el presente estudio se está aportando con un instrumento creado para este fin como es el cuestionario. Este estudio resume el aporte teórico de los autores más importantes que hacen referencia a las variables en estudio.</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3342402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a:bodyPr>
          <a:lstStyle/>
          <a:p>
            <a:pPr marL="0" indent="0" algn="ctr">
              <a:buNone/>
            </a:pPr>
            <a:r>
              <a:rPr lang="es-PE" sz="1700" b="1" dirty="0">
                <a:solidFill>
                  <a:schemeClr val="tx1"/>
                </a:solidFill>
                <a:latin typeface="Arial" panose="020B0604020202020204" pitchFamily="34" charset="0"/>
                <a:cs typeface="Arial" panose="020B0604020202020204" pitchFamily="34" charset="0"/>
              </a:rPr>
              <a:t>Viabilidad</a:t>
            </a:r>
            <a:endParaRPr lang="es-PE" sz="1700" dirty="0">
              <a:solidFill>
                <a:schemeClr val="tx1"/>
              </a:solidFill>
              <a:latin typeface="Arial" panose="020B0604020202020204" pitchFamily="34" charset="0"/>
              <a:cs typeface="Arial" panose="020B0604020202020204" pitchFamily="34" charset="0"/>
            </a:endParaRPr>
          </a:p>
          <a:p>
            <a:r>
              <a:rPr lang="es-PE" sz="1700" dirty="0">
                <a:solidFill>
                  <a:schemeClr val="tx1"/>
                </a:solidFill>
                <a:latin typeface="Arial" panose="020B0604020202020204" pitchFamily="34" charset="0"/>
                <a:cs typeface="Arial" panose="020B0604020202020204" pitchFamily="34" charset="0"/>
              </a:rPr>
              <a:t>El presente estudio de investigación es viable ya que se dispone del tiempo razonable para la realización de la tesis, asimismo se dispone de la información necesaria para el desarrollo tanto en tesis nacionales e internacionales y de revistas relacionadas a la materia de investigación, asimismo se dispone de los recursos económicos necesarios para poder ejecutar y terminar la presente tesis.</a:t>
            </a:r>
          </a:p>
          <a:p>
            <a:endParaRPr lang="es-PE" dirty="0">
              <a:solidFill>
                <a:schemeClr val="tx1"/>
              </a:solidFill>
            </a:endParaRPr>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14367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a:bodyPr>
          <a:lstStyle/>
          <a:p>
            <a:pPr marL="0" indent="0" algn="ctr">
              <a:buNone/>
            </a:pPr>
            <a:r>
              <a:rPr lang="es-PE" sz="1600" b="1" dirty="0">
                <a:solidFill>
                  <a:schemeClr val="tx1"/>
                </a:solidFill>
                <a:latin typeface="Arial" panose="020B0604020202020204" pitchFamily="34" charset="0"/>
                <a:cs typeface="Arial" panose="020B0604020202020204" pitchFamily="34" charset="0"/>
              </a:rPr>
              <a:t>Limitaciones</a:t>
            </a:r>
            <a:endParaRPr lang="es-PE" sz="1600" dirty="0">
              <a:solidFill>
                <a:schemeClr val="tx1"/>
              </a:solidFill>
              <a:latin typeface="Arial" panose="020B0604020202020204" pitchFamily="34" charset="0"/>
              <a:cs typeface="Arial" panose="020B0604020202020204" pitchFamily="34" charset="0"/>
            </a:endParaRPr>
          </a:p>
          <a:p>
            <a:r>
              <a:rPr lang="es-PE" sz="1600" dirty="0">
                <a:solidFill>
                  <a:schemeClr val="tx1"/>
                </a:solidFill>
                <a:latin typeface="Arial" panose="020B0604020202020204" pitchFamily="34" charset="0"/>
                <a:cs typeface="Arial" panose="020B0604020202020204" pitchFamily="34" charset="0"/>
              </a:rPr>
              <a:t>Para la ejecución de la presente investigación no se presentaran dificultades en relación al material bibliográfico ya que se cuenta con tesis nacionales e internacionales y de revista que permitirán complementar el estudio de investigación, igualmente se cuenta con el apoyo de la empresa para la entrega de la documentación necesaria para la elaboración de la tesis.</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163380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a:bodyPr>
          <a:lstStyle/>
          <a:p>
            <a:pPr marL="0" indent="0" algn="ctr">
              <a:buNone/>
            </a:pPr>
            <a:r>
              <a:rPr lang="es-PE" sz="1700" b="1" dirty="0">
                <a:solidFill>
                  <a:schemeClr val="tx1"/>
                </a:solidFill>
                <a:latin typeface="Arial" panose="020B0604020202020204" pitchFamily="34" charset="0"/>
                <a:cs typeface="Arial" panose="020B0604020202020204" pitchFamily="34" charset="0"/>
              </a:rPr>
              <a:t>Importancia</a:t>
            </a:r>
            <a:endParaRPr lang="es-PE" sz="1700" dirty="0">
              <a:solidFill>
                <a:schemeClr val="tx1"/>
              </a:solidFill>
              <a:latin typeface="Arial" panose="020B0604020202020204" pitchFamily="34" charset="0"/>
              <a:cs typeface="Arial" panose="020B0604020202020204" pitchFamily="34" charset="0"/>
            </a:endParaRPr>
          </a:p>
          <a:p>
            <a:r>
              <a:rPr lang="es-PE" sz="1700" dirty="0">
                <a:solidFill>
                  <a:schemeClr val="tx1"/>
                </a:solidFill>
                <a:latin typeface="Arial" panose="020B0604020202020204" pitchFamily="34" charset="0"/>
                <a:cs typeface="Arial" panose="020B0604020202020204" pitchFamily="34" charset="0"/>
              </a:rPr>
              <a:t>Con la aplicación del valor ganado se podrá prevenir y/o corregir en caso se identifique durante la ejecución de las actividades si estas se encuentran en perdida y/o atrasos en un determinado corte con una línea base establecida, de esta forma se podrá monitorear el estado situacional de la obra. El uso de nuevas metodologías relacionadas a la gestión de costos en la que se permita obtener mejores resultados que las metodologías convencionales en el ahorro de tiempo y dinero y con la utilización de la menor cantidad de recursos.</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387362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867833" y="2780928"/>
            <a:ext cx="7408333" cy="3450696"/>
          </a:xfrm>
        </p:spPr>
        <p:txBody>
          <a:bodyPr/>
          <a:lstStyle/>
          <a:p>
            <a:endParaRPr lang="es-PE" dirty="0"/>
          </a:p>
          <a:p>
            <a:endParaRPr lang="es-PE" dirty="0"/>
          </a:p>
        </p:txBody>
      </p:sp>
      <p:sp>
        <p:nvSpPr>
          <p:cNvPr id="3" name="Título 2"/>
          <p:cNvSpPr>
            <a:spLocks noGrp="1"/>
          </p:cNvSpPr>
          <p:nvPr>
            <p:ph type="title"/>
          </p:nvPr>
        </p:nvSpPr>
        <p:spPr/>
        <p:txBody>
          <a:bodyPr/>
          <a:lstStyle/>
          <a:p>
            <a:endParaRPr lang="es-PE"/>
          </a:p>
        </p:txBody>
      </p:sp>
      <p:graphicFrame>
        <p:nvGraphicFramePr>
          <p:cNvPr id="4" name="Tabla 3"/>
          <p:cNvGraphicFramePr>
            <a:graphicFrameLocks noGrp="1"/>
          </p:cNvGraphicFramePr>
          <p:nvPr>
            <p:extLst>
              <p:ext uri="{D42A27DB-BD31-4B8C-83A1-F6EECF244321}">
                <p14:modId xmlns:p14="http://schemas.microsoft.com/office/powerpoint/2010/main" val="3357367662"/>
              </p:ext>
            </p:extLst>
          </p:nvPr>
        </p:nvGraphicFramePr>
        <p:xfrm>
          <a:off x="251518" y="2564904"/>
          <a:ext cx="8640961" cy="3384375"/>
        </p:xfrm>
        <a:graphic>
          <a:graphicData uri="http://schemas.openxmlformats.org/drawingml/2006/table">
            <a:tbl>
              <a:tblPr firstRow="1" firstCol="1" bandRow="1">
                <a:tableStyleId>{5C22544A-7EE6-4342-B048-85BDC9FD1C3A}</a:tableStyleId>
              </a:tblPr>
              <a:tblGrid>
                <a:gridCol w="2160241">
                  <a:extLst>
                    <a:ext uri="{9D8B030D-6E8A-4147-A177-3AD203B41FA5}">
                      <a16:colId xmlns:a16="http://schemas.microsoft.com/office/drawing/2014/main" val="20000"/>
                    </a:ext>
                  </a:extLst>
                </a:gridCol>
                <a:gridCol w="2266623">
                  <a:extLst>
                    <a:ext uri="{9D8B030D-6E8A-4147-A177-3AD203B41FA5}">
                      <a16:colId xmlns:a16="http://schemas.microsoft.com/office/drawing/2014/main" val="20001"/>
                    </a:ext>
                  </a:extLst>
                </a:gridCol>
                <a:gridCol w="2053856">
                  <a:extLst>
                    <a:ext uri="{9D8B030D-6E8A-4147-A177-3AD203B41FA5}">
                      <a16:colId xmlns:a16="http://schemas.microsoft.com/office/drawing/2014/main" val="20002"/>
                    </a:ext>
                  </a:extLst>
                </a:gridCol>
                <a:gridCol w="2160241">
                  <a:extLst>
                    <a:ext uri="{9D8B030D-6E8A-4147-A177-3AD203B41FA5}">
                      <a16:colId xmlns:a16="http://schemas.microsoft.com/office/drawing/2014/main" val="20003"/>
                    </a:ext>
                  </a:extLst>
                </a:gridCol>
              </a:tblGrid>
              <a:tr h="116703">
                <a:tc>
                  <a:txBody>
                    <a:bodyPr/>
                    <a:lstStyle/>
                    <a:p>
                      <a:pPr algn="ctr">
                        <a:lnSpc>
                          <a:spcPct val="107000"/>
                        </a:lnSpc>
                        <a:spcAft>
                          <a:spcPts val="0"/>
                        </a:spcAft>
                      </a:pPr>
                      <a:r>
                        <a:rPr lang="es-PE" sz="700" dirty="0">
                          <a:effectLst/>
                        </a:rPr>
                        <a:t>PROBLEMA</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OBJETIVOS</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HIPÓTESIS</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dirty="0">
                          <a:effectLst/>
                        </a:rPr>
                        <a:t>VARIABLE</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extLst>
                  <a:ext uri="{0D108BD9-81ED-4DB2-BD59-A6C34878D82A}">
                    <a16:rowId xmlns:a16="http://schemas.microsoft.com/office/drawing/2014/main" val="10000"/>
                  </a:ext>
                </a:extLst>
              </a:tr>
              <a:tr h="116703">
                <a:tc>
                  <a:txBody>
                    <a:bodyPr/>
                    <a:lstStyle/>
                    <a:p>
                      <a:pPr algn="ctr">
                        <a:lnSpc>
                          <a:spcPct val="107000"/>
                        </a:lnSpc>
                        <a:spcAft>
                          <a:spcPts val="0"/>
                        </a:spcAft>
                      </a:pPr>
                      <a:r>
                        <a:rPr lang="es-PE" sz="700">
                          <a:effectLst/>
                        </a:rPr>
                        <a:t>Problemas general</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Objetivo general</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Hipótesis general</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dirty="0">
                          <a:effectLst/>
                        </a:rPr>
                        <a:t>Variable independiente</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extLst>
                  <a:ext uri="{0D108BD9-81ED-4DB2-BD59-A6C34878D82A}">
                    <a16:rowId xmlns:a16="http://schemas.microsoft.com/office/drawing/2014/main" val="10001"/>
                  </a:ext>
                </a:extLst>
              </a:tr>
              <a:tr h="816918">
                <a:tc>
                  <a:txBody>
                    <a:bodyPr/>
                    <a:lstStyle/>
                    <a:p>
                      <a:pPr>
                        <a:lnSpc>
                          <a:spcPct val="107000"/>
                        </a:lnSpc>
                        <a:spcAft>
                          <a:spcPts val="0"/>
                        </a:spcAft>
                      </a:pPr>
                      <a:r>
                        <a:rPr lang="es-PE" sz="700" dirty="0">
                          <a:effectLst/>
                        </a:rPr>
                        <a:t>¿En qué medida la gestión del valor ganado establece el estado situacional en la construcción de un proyecto educativo en el distrito de </a:t>
                      </a:r>
                      <a:r>
                        <a:rPr lang="es-PE" sz="700" dirty="0" err="1">
                          <a:effectLst/>
                        </a:rPr>
                        <a:t>Carabayllo</a:t>
                      </a:r>
                      <a:r>
                        <a:rPr lang="es-PE" sz="700" dirty="0">
                          <a:effectLst/>
                        </a:rPr>
                        <a:t> 2018?</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nSpc>
                          <a:spcPct val="107000"/>
                        </a:lnSpc>
                        <a:spcAft>
                          <a:spcPts val="0"/>
                        </a:spcAft>
                      </a:pPr>
                      <a:r>
                        <a:rPr lang="es-PE" sz="700">
                          <a:effectLst/>
                        </a:rPr>
                        <a:t>Determinar el valor ganado para establecer el estado situacional en la construcción de un proyecto educativo en el distrito de Carabayllo 2018. </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nSpc>
                          <a:spcPct val="107000"/>
                        </a:lnSpc>
                        <a:spcAft>
                          <a:spcPts val="0"/>
                        </a:spcAft>
                      </a:pPr>
                      <a:r>
                        <a:rPr lang="es-PE" sz="700">
                          <a:effectLst/>
                        </a:rPr>
                        <a:t>Aplicando el valor ganado se establecerá el estado situacional en la construcción de un proyecto educativo en el distrito de Carabayllo 2018.</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Gestión del Valor Ganado:</a:t>
                      </a:r>
                    </a:p>
                    <a:p>
                      <a:pPr algn="ctr">
                        <a:lnSpc>
                          <a:spcPct val="107000"/>
                        </a:lnSpc>
                        <a:spcAft>
                          <a:spcPts val="0"/>
                        </a:spcAft>
                      </a:pPr>
                      <a:r>
                        <a:rPr lang="es-PE" sz="700">
                          <a:effectLst/>
                        </a:rPr>
                        <a:t>   SV (variación del cronograma); CV (variación del costo); CPI (Índice de desempeño del presupuesto); SPI (índice de desempeño del cronograma).</a:t>
                      </a:r>
                    </a:p>
                    <a:p>
                      <a:pPr algn="ctr">
                        <a:lnSpc>
                          <a:spcPct val="107000"/>
                        </a:lnSpc>
                        <a:spcAft>
                          <a:spcPts val="0"/>
                        </a:spcAft>
                      </a:pPr>
                      <a:r>
                        <a:rPr lang="es-PE" sz="700">
                          <a:effectLst/>
                        </a:rPr>
                        <a:t> </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extLst>
                  <a:ext uri="{0D108BD9-81ED-4DB2-BD59-A6C34878D82A}">
                    <a16:rowId xmlns:a16="http://schemas.microsoft.com/office/drawing/2014/main" val="10002"/>
                  </a:ext>
                </a:extLst>
              </a:tr>
              <a:tr h="116703">
                <a:tc>
                  <a:txBody>
                    <a:bodyPr/>
                    <a:lstStyle/>
                    <a:p>
                      <a:pPr algn="ctr">
                        <a:lnSpc>
                          <a:spcPct val="107000"/>
                        </a:lnSpc>
                        <a:spcAft>
                          <a:spcPts val="0"/>
                        </a:spcAft>
                      </a:pPr>
                      <a:r>
                        <a:rPr lang="es-PE" sz="700">
                          <a:effectLst/>
                        </a:rPr>
                        <a:t>Problemas Específicos</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Objetivos Específicos</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Hipótesis Específicas</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a:effectLst/>
                        </a:rPr>
                        <a:t>Variable Dependiente</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extLst>
                  <a:ext uri="{0D108BD9-81ED-4DB2-BD59-A6C34878D82A}">
                    <a16:rowId xmlns:a16="http://schemas.microsoft.com/office/drawing/2014/main" val="10003"/>
                  </a:ext>
                </a:extLst>
              </a:tr>
              <a:tr h="2217348">
                <a:tc>
                  <a:txBody>
                    <a:bodyPr/>
                    <a:lstStyle/>
                    <a:p>
                      <a:pPr marL="342900" lvl="0" indent="-342900">
                        <a:lnSpc>
                          <a:spcPct val="107000"/>
                        </a:lnSpc>
                        <a:spcAft>
                          <a:spcPts val="0"/>
                        </a:spcAft>
                        <a:buFont typeface="+mj-lt"/>
                        <a:buAutoNum type="alphaLcParenR"/>
                      </a:pPr>
                      <a:r>
                        <a:rPr lang="es-PE" sz="700">
                          <a:effectLst/>
                        </a:rPr>
                        <a:t>¿En qué medida la variación del cronograma establece el atraso y/o adelanto de un proyecto?</a:t>
                      </a:r>
                    </a:p>
                    <a:p>
                      <a:pPr marL="342900" lvl="0" indent="-342900">
                        <a:lnSpc>
                          <a:spcPct val="107000"/>
                        </a:lnSpc>
                        <a:spcAft>
                          <a:spcPts val="0"/>
                        </a:spcAft>
                        <a:buFont typeface="+mj-lt"/>
                        <a:buAutoNum type="alphaLcParenR"/>
                      </a:pPr>
                      <a:r>
                        <a:rPr lang="es-PE" sz="700">
                          <a:effectLst/>
                        </a:rPr>
                        <a:t>¿En qué medida la variación del costo establece la perdida y/o ganancia de un proyecto?</a:t>
                      </a:r>
                    </a:p>
                    <a:p>
                      <a:pPr marL="342900" lvl="0" indent="-342900">
                        <a:lnSpc>
                          <a:spcPct val="107000"/>
                        </a:lnSpc>
                        <a:spcAft>
                          <a:spcPts val="0"/>
                        </a:spcAft>
                        <a:buFont typeface="+mj-lt"/>
                        <a:buAutoNum type="alphaLcParenR"/>
                      </a:pPr>
                      <a:r>
                        <a:rPr lang="es-PE" sz="700">
                          <a:effectLst/>
                        </a:rPr>
                        <a:t>¿En qué medida el índice de desempeño del cronograma establece la eficiencia del cronograma de un proyecto?</a:t>
                      </a:r>
                    </a:p>
                    <a:p>
                      <a:pPr marL="342900" lvl="0" indent="-342900">
                        <a:lnSpc>
                          <a:spcPct val="107000"/>
                        </a:lnSpc>
                        <a:spcAft>
                          <a:spcPts val="0"/>
                        </a:spcAft>
                        <a:buFont typeface="+mj-lt"/>
                        <a:buAutoNum type="alphaLcParenR"/>
                      </a:pPr>
                      <a:r>
                        <a:rPr lang="es-PE" sz="700">
                          <a:effectLst/>
                        </a:rPr>
                        <a:t>¿En qué medida el índice de desempeño del costo establece la eficiencia en el costo de un proyecto?</a:t>
                      </a:r>
                    </a:p>
                    <a:p>
                      <a:pPr marL="457200">
                        <a:lnSpc>
                          <a:spcPct val="107000"/>
                        </a:lnSpc>
                        <a:spcAft>
                          <a:spcPts val="0"/>
                        </a:spcAft>
                      </a:pPr>
                      <a:r>
                        <a:rPr lang="es-PE" sz="700">
                          <a:effectLst/>
                        </a:rPr>
                        <a:t> </a:t>
                      </a:r>
                      <a:endParaRPr lang="es-PE" sz="70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marL="342900" lvl="0" indent="-342900">
                        <a:lnSpc>
                          <a:spcPct val="107000"/>
                        </a:lnSpc>
                        <a:spcAft>
                          <a:spcPts val="0"/>
                        </a:spcAft>
                        <a:buFont typeface="+mj-lt"/>
                        <a:buAutoNum type="alphaLcParenR"/>
                      </a:pPr>
                      <a:r>
                        <a:rPr lang="es-PE" sz="700" dirty="0">
                          <a:effectLst/>
                        </a:rPr>
                        <a:t>Determinar la variación del cronograma para establecer el atraso y/o adelanto de un proyecto.</a:t>
                      </a:r>
                    </a:p>
                    <a:p>
                      <a:pPr marL="342900" lvl="0" indent="-342900">
                        <a:lnSpc>
                          <a:spcPct val="107000"/>
                        </a:lnSpc>
                        <a:spcAft>
                          <a:spcPts val="0"/>
                        </a:spcAft>
                        <a:buFont typeface="+mj-lt"/>
                        <a:buAutoNum type="alphaLcParenR"/>
                      </a:pPr>
                      <a:r>
                        <a:rPr lang="es-PE" sz="700" dirty="0">
                          <a:effectLst/>
                        </a:rPr>
                        <a:t>Determinar la variación del costo para establecer la perdida y/o ganancia de un proyecto.</a:t>
                      </a:r>
                    </a:p>
                    <a:p>
                      <a:pPr marL="342900" lvl="0" indent="-342900">
                        <a:lnSpc>
                          <a:spcPct val="107000"/>
                        </a:lnSpc>
                        <a:spcAft>
                          <a:spcPts val="0"/>
                        </a:spcAft>
                        <a:buFont typeface="+mj-lt"/>
                        <a:buAutoNum type="alphaLcParenR"/>
                      </a:pPr>
                      <a:r>
                        <a:rPr lang="es-PE" sz="700" dirty="0">
                          <a:effectLst/>
                        </a:rPr>
                        <a:t>Determinar el índice de desempeño del cronograma para establecer la eficiencia en el cronograma de un proyecto.</a:t>
                      </a:r>
                    </a:p>
                    <a:p>
                      <a:pPr marL="342900" lvl="0" indent="-342900">
                        <a:lnSpc>
                          <a:spcPct val="107000"/>
                        </a:lnSpc>
                        <a:spcAft>
                          <a:spcPts val="0"/>
                        </a:spcAft>
                        <a:buFont typeface="+mj-lt"/>
                        <a:buAutoNum type="alphaLcParenR"/>
                      </a:pPr>
                      <a:r>
                        <a:rPr lang="es-PE" sz="700" dirty="0">
                          <a:effectLst/>
                        </a:rPr>
                        <a:t>Determinar el índice de desempeño del costo para establecer la eficiencia en el costo de un proyecto.</a:t>
                      </a:r>
                    </a:p>
                    <a:p>
                      <a:pPr marL="228600">
                        <a:lnSpc>
                          <a:spcPct val="107000"/>
                        </a:lnSpc>
                        <a:spcAft>
                          <a:spcPts val="0"/>
                        </a:spcAft>
                      </a:pPr>
                      <a:r>
                        <a:rPr lang="es-PE" sz="700" dirty="0">
                          <a:effectLst/>
                        </a:rPr>
                        <a:t>.</a:t>
                      </a:r>
                    </a:p>
                    <a:p>
                      <a:pPr>
                        <a:lnSpc>
                          <a:spcPct val="107000"/>
                        </a:lnSpc>
                        <a:spcAft>
                          <a:spcPts val="0"/>
                        </a:spcAft>
                      </a:pPr>
                      <a:r>
                        <a:rPr lang="es-PE" sz="700" dirty="0">
                          <a:effectLst/>
                        </a:rPr>
                        <a:t> </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marL="342900" lvl="0" indent="-342900">
                        <a:lnSpc>
                          <a:spcPct val="107000"/>
                        </a:lnSpc>
                        <a:spcAft>
                          <a:spcPts val="0"/>
                        </a:spcAft>
                        <a:buFont typeface="+mj-lt"/>
                        <a:buAutoNum type="alphaLcParenR"/>
                      </a:pPr>
                      <a:r>
                        <a:rPr lang="es-PE" sz="700" dirty="0">
                          <a:effectLst/>
                        </a:rPr>
                        <a:t>Aplicando la variación del cronograma se establecerá el atraso y/o adelanto de un proyecto.</a:t>
                      </a:r>
                    </a:p>
                    <a:p>
                      <a:pPr marL="342900" lvl="0" indent="-342900">
                        <a:lnSpc>
                          <a:spcPct val="107000"/>
                        </a:lnSpc>
                        <a:spcAft>
                          <a:spcPts val="0"/>
                        </a:spcAft>
                        <a:buFont typeface="+mj-lt"/>
                        <a:buAutoNum type="alphaLcParenR"/>
                      </a:pPr>
                      <a:r>
                        <a:rPr lang="es-PE" sz="700" dirty="0">
                          <a:effectLst/>
                        </a:rPr>
                        <a:t>Aplicando la variación del costo se establecerá la perdida y/o ganancia de un proyecto.</a:t>
                      </a:r>
                    </a:p>
                    <a:p>
                      <a:pPr marL="342900" lvl="0" indent="-342900">
                        <a:lnSpc>
                          <a:spcPct val="107000"/>
                        </a:lnSpc>
                        <a:spcAft>
                          <a:spcPts val="0"/>
                        </a:spcAft>
                        <a:buFont typeface="+mj-lt"/>
                        <a:buAutoNum type="alphaLcParenR"/>
                      </a:pPr>
                      <a:r>
                        <a:rPr lang="es-PE" sz="700" dirty="0">
                          <a:effectLst/>
                        </a:rPr>
                        <a:t>Aplicando el índice de desempeño del cronograma se establecerá la eficiencia en el cronograma de un proyecto.</a:t>
                      </a:r>
                    </a:p>
                    <a:p>
                      <a:pPr marL="342900" lvl="0" indent="-342900">
                        <a:lnSpc>
                          <a:spcPct val="107000"/>
                        </a:lnSpc>
                        <a:spcAft>
                          <a:spcPts val="0"/>
                        </a:spcAft>
                        <a:buFont typeface="+mj-lt"/>
                        <a:buAutoNum type="alphaLcParenR"/>
                      </a:pPr>
                      <a:r>
                        <a:rPr lang="es-PE" sz="700" dirty="0">
                          <a:effectLst/>
                        </a:rPr>
                        <a:t>Aplicando el índice de desempeño del costo se establecerá la eficiencia en el costo de un proyecto</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tc>
                  <a:txBody>
                    <a:bodyPr/>
                    <a:lstStyle/>
                    <a:p>
                      <a:pPr algn="ctr">
                        <a:lnSpc>
                          <a:spcPct val="107000"/>
                        </a:lnSpc>
                        <a:spcAft>
                          <a:spcPts val="0"/>
                        </a:spcAft>
                      </a:pPr>
                      <a:r>
                        <a:rPr lang="es-PE" sz="700" dirty="0">
                          <a:effectLst/>
                        </a:rPr>
                        <a:t> Estado Situacional:</a:t>
                      </a:r>
                    </a:p>
                    <a:p>
                      <a:pPr marL="457200">
                        <a:lnSpc>
                          <a:spcPct val="107000"/>
                        </a:lnSpc>
                        <a:spcAft>
                          <a:spcPts val="0"/>
                        </a:spcAft>
                      </a:pPr>
                      <a:r>
                        <a:rPr lang="es-PE" sz="700" dirty="0">
                          <a:effectLst/>
                        </a:rPr>
                        <a:t>Avance Físico</a:t>
                      </a:r>
                    </a:p>
                    <a:p>
                      <a:pPr algn="ctr">
                        <a:lnSpc>
                          <a:spcPct val="107000"/>
                        </a:lnSpc>
                        <a:spcAft>
                          <a:spcPts val="0"/>
                        </a:spcAft>
                      </a:pPr>
                      <a:r>
                        <a:rPr lang="es-PE" sz="700" dirty="0">
                          <a:effectLst/>
                        </a:rPr>
                        <a:t> Económico</a:t>
                      </a:r>
                    </a:p>
                    <a:p>
                      <a:pPr algn="ctr">
                        <a:lnSpc>
                          <a:spcPct val="107000"/>
                        </a:lnSpc>
                        <a:spcAft>
                          <a:spcPts val="0"/>
                        </a:spcAft>
                      </a:pPr>
                      <a:r>
                        <a:rPr lang="es-PE" sz="700" dirty="0">
                          <a:effectLst/>
                        </a:rPr>
                        <a:t>Presupuesto</a:t>
                      </a:r>
                    </a:p>
                    <a:p>
                      <a:pPr algn="ctr">
                        <a:lnSpc>
                          <a:spcPct val="107000"/>
                        </a:lnSpc>
                        <a:spcAft>
                          <a:spcPts val="0"/>
                        </a:spcAft>
                      </a:pPr>
                      <a:r>
                        <a:rPr lang="es-PE" sz="700" dirty="0">
                          <a:effectLst/>
                        </a:rPr>
                        <a:t> </a:t>
                      </a:r>
                    </a:p>
                    <a:p>
                      <a:pPr algn="ctr">
                        <a:lnSpc>
                          <a:spcPct val="107000"/>
                        </a:lnSpc>
                        <a:spcAft>
                          <a:spcPts val="0"/>
                        </a:spcAft>
                      </a:pPr>
                      <a:r>
                        <a:rPr lang="es-PE" sz="700" dirty="0">
                          <a:effectLst/>
                        </a:rPr>
                        <a:t> </a:t>
                      </a:r>
                      <a:endParaRPr lang="es-PE"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5497" marR="45497" marT="0" marB="0"/>
                </a:tc>
                <a:extLst>
                  <a:ext uri="{0D108BD9-81ED-4DB2-BD59-A6C34878D82A}">
                    <a16:rowId xmlns:a16="http://schemas.microsoft.com/office/drawing/2014/main" val="10004"/>
                  </a:ext>
                </a:extLst>
              </a:tr>
            </a:tbl>
          </a:graphicData>
        </a:graphic>
      </p:graphicFrame>
      <p:sp>
        <p:nvSpPr>
          <p:cNvPr id="5" name="CuadroTexto 4"/>
          <p:cNvSpPr txBox="1"/>
          <p:nvPr/>
        </p:nvSpPr>
        <p:spPr>
          <a:xfrm>
            <a:off x="971600" y="2060848"/>
            <a:ext cx="7200800" cy="369332"/>
          </a:xfrm>
          <a:prstGeom prst="rect">
            <a:avLst/>
          </a:prstGeom>
          <a:noFill/>
        </p:spPr>
        <p:txBody>
          <a:bodyPr wrap="square" rtlCol="0">
            <a:spAutoFit/>
          </a:bodyPr>
          <a:lstStyle/>
          <a:p>
            <a:pPr algn="ctr"/>
            <a:r>
              <a:rPr lang="es-PE" b="1" dirty="0"/>
              <a:t>MATRIZ DE CONSISTENCIA</a:t>
            </a:r>
          </a:p>
        </p:txBody>
      </p:sp>
    </p:spTree>
    <p:extLst>
      <p:ext uri="{BB962C8B-B14F-4D97-AF65-F5344CB8AC3E}">
        <p14:creationId xmlns:p14="http://schemas.microsoft.com/office/powerpoint/2010/main" val="1009052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fontScale="85000" lnSpcReduction="20000"/>
          </a:bodyPr>
          <a:lstStyle/>
          <a:p>
            <a:pPr marL="0" indent="0" algn="ctr">
              <a:buNone/>
            </a:pPr>
            <a:r>
              <a:rPr lang="es-PE" sz="2100" b="1" dirty="0">
                <a:solidFill>
                  <a:schemeClr val="tx1"/>
                </a:solidFill>
                <a:latin typeface="Arial" panose="020B0604020202020204" pitchFamily="34" charset="0"/>
                <a:cs typeface="Arial" panose="020B0604020202020204" pitchFamily="34" charset="0"/>
              </a:rPr>
              <a:t>Método de La Investigación</a:t>
            </a:r>
            <a:endParaRPr lang="es-PE" sz="2100" dirty="0">
              <a:solidFill>
                <a:schemeClr val="tx1"/>
              </a:solidFill>
              <a:latin typeface="Arial" panose="020B0604020202020204" pitchFamily="34" charset="0"/>
              <a:cs typeface="Arial" panose="020B0604020202020204" pitchFamily="34" charset="0"/>
            </a:endParaRPr>
          </a:p>
          <a:p>
            <a:r>
              <a:rPr lang="es-PE" sz="2100" dirty="0">
                <a:solidFill>
                  <a:schemeClr val="tx1"/>
                </a:solidFill>
                <a:latin typeface="Arial" panose="020B0604020202020204" pitchFamily="34" charset="0"/>
                <a:cs typeface="Arial" panose="020B0604020202020204" pitchFamily="34" charset="0"/>
              </a:rPr>
              <a:t>El método es una  investigación deductiva porque se identificará las causas que han originado el estado situacional de la obra si se encuentra en atraso y/o adelanto, en perdida y/o ganancia en las construcciones de edificaciones de colegios en el distrito de </a:t>
            </a:r>
            <a:r>
              <a:rPr lang="es-PE" sz="2100" dirty="0" err="1">
                <a:solidFill>
                  <a:schemeClr val="tx1"/>
                </a:solidFill>
                <a:latin typeface="Arial" panose="020B0604020202020204" pitchFamily="34" charset="0"/>
                <a:cs typeface="Arial" panose="020B0604020202020204" pitchFamily="34" charset="0"/>
              </a:rPr>
              <a:t>Carabayllo</a:t>
            </a:r>
            <a:r>
              <a:rPr lang="es-PE" sz="2100" dirty="0">
                <a:solidFill>
                  <a:schemeClr val="tx1"/>
                </a:solidFill>
                <a:latin typeface="Arial" panose="020B0604020202020204" pitchFamily="34" charset="0"/>
                <a:cs typeface="Arial" panose="020B0604020202020204" pitchFamily="34" charset="0"/>
              </a:rPr>
              <a:t>, también es  de orientación aplicada porque se hará un plan de mejora para evitar los inconvenientes o las deficiencias que en la obra de investigación se detectaron, también el enfoque es cuantitativo ya que mis objetivos se plantearán hallar la variación del cronograma, variación de costo, índice de desempeño del presupuesto y el índice de desempeño del cronograma en índices, por último el estudio de la recolección de datos es </a:t>
            </a:r>
            <a:r>
              <a:rPr lang="es-PE" sz="2100" dirty="0" err="1">
                <a:solidFill>
                  <a:schemeClr val="tx1"/>
                </a:solidFill>
                <a:latin typeface="Arial" panose="020B0604020202020204" pitchFamily="34" charset="0"/>
                <a:cs typeface="Arial" panose="020B0604020202020204" pitchFamily="34" charset="0"/>
              </a:rPr>
              <a:t>prolectiva</a:t>
            </a:r>
            <a:r>
              <a:rPr lang="es-PE" sz="2100" dirty="0">
                <a:solidFill>
                  <a:schemeClr val="tx1"/>
                </a:solidFill>
                <a:latin typeface="Arial" panose="020B0604020202020204" pitchFamily="34" charset="0"/>
                <a:cs typeface="Arial" panose="020B0604020202020204" pitchFamily="34" charset="0"/>
              </a:rPr>
              <a:t>, porque se utilizara instrumentos de recolección creados a fin de lograr los objetivos del estudio.</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3346786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a:bodyPr>
          <a:lstStyle/>
          <a:p>
            <a:pPr marL="0" indent="0" algn="ctr">
              <a:buNone/>
            </a:pPr>
            <a:r>
              <a:rPr lang="es-PE" sz="1600" b="1" dirty="0">
                <a:solidFill>
                  <a:schemeClr val="tx1"/>
                </a:solidFill>
                <a:latin typeface="Arial" panose="020B0604020202020204" pitchFamily="34" charset="0"/>
                <a:cs typeface="Arial" panose="020B0604020202020204" pitchFamily="34" charset="0"/>
              </a:rPr>
              <a:t>Tipo de la Investigación</a:t>
            </a:r>
            <a:endParaRPr lang="es-PE" sz="1600" dirty="0">
              <a:solidFill>
                <a:schemeClr val="tx1"/>
              </a:solidFill>
              <a:latin typeface="Arial" panose="020B0604020202020204" pitchFamily="34" charset="0"/>
              <a:cs typeface="Arial" panose="020B0604020202020204" pitchFamily="34" charset="0"/>
            </a:endParaRPr>
          </a:p>
          <a:p>
            <a:r>
              <a:rPr lang="es-PE" sz="1600" dirty="0">
                <a:solidFill>
                  <a:schemeClr val="tx1"/>
                </a:solidFill>
                <a:latin typeface="Arial" panose="020B0604020202020204" pitchFamily="34" charset="0"/>
                <a:cs typeface="Arial" panose="020B0604020202020204" pitchFamily="34" charset="0"/>
              </a:rPr>
              <a:t>El tipo de investigación es descriptivo, porque se describirán el costo real, la valorización, el valor ganado de la obra en un momento determinado el cual nos servirá en qué situación se encuentra la obra.</a:t>
            </a:r>
          </a:p>
          <a:p>
            <a:endParaRPr lang="es-PE" sz="1600" dirty="0">
              <a:solidFill>
                <a:schemeClr val="tx1"/>
              </a:solidFill>
              <a:latin typeface="Arial" panose="020B0604020202020204" pitchFamily="34" charset="0"/>
              <a:cs typeface="Arial" panose="020B0604020202020204" pitchFamily="34" charset="0"/>
            </a:endParaRPr>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282380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lgn="ctr">
              <a:buNone/>
            </a:pPr>
            <a:r>
              <a:rPr lang="es-PE" sz="1600" b="1" dirty="0">
                <a:solidFill>
                  <a:schemeClr val="tx1"/>
                </a:solidFill>
                <a:latin typeface="Arial" panose="020B0604020202020204" pitchFamily="34" charset="0"/>
                <a:cs typeface="Arial" panose="020B0604020202020204" pitchFamily="34" charset="0"/>
              </a:rPr>
              <a:t>Nivel dela Investigación</a:t>
            </a:r>
            <a:endParaRPr lang="es-PE" sz="1600" dirty="0">
              <a:solidFill>
                <a:schemeClr val="tx1"/>
              </a:solidFill>
              <a:latin typeface="Arial" panose="020B0604020202020204" pitchFamily="34" charset="0"/>
              <a:cs typeface="Arial" panose="020B0604020202020204" pitchFamily="34" charset="0"/>
            </a:endParaRPr>
          </a:p>
          <a:p>
            <a:r>
              <a:rPr lang="es-PE" sz="1600" dirty="0">
                <a:solidFill>
                  <a:schemeClr val="tx1"/>
                </a:solidFill>
                <a:latin typeface="Arial" panose="020B0604020202020204" pitchFamily="34" charset="0"/>
                <a:cs typeface="Arial" panose="020B0604020202020204" pitchFamily="34" charset="0"/>
              </a:rPr>
              <a:t>El nivel de investigación es descriptivo, porque se determinará el estado situacional mediante los indicadores variación del cronograma, variación de costo, índice de desempeño del presupuesto y el índice de desempeño del cronograma, y por consiguiente se hará la proyección mediante el método del valor ganado.</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301170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fontScale="70000" lnSpcReduction="20000"/>
          </a:bodyPr>
          <a:lstStyle/>
          <a:p>
            <a:pPr marL="0" indent="0" algn="ctr">
              <a:buNone/>
            </a:pPr>
            <a:r>
              <a:rPr lang="es-PE" sz="2300" b="1" dirty="0">
                <a:solidFill>
                  <a:schemeClr val="tx1"/>
                </a:solidFill>
                <a:latin typeface="Arial" panose="020B0604020202020204" pitchFamily="34" charset="0"/>
                <a:cs typeface="Arial" panose="020B0604020202020204" pitchFamily="34" charset="0"/>
              </a:rPr>
              <a:t>Diseño de la Investigación</a:t>
            </a:r>
            <a:endParaRPr lang="es-PE" sz="2300" dirty="0">
              <a:solidFill>
                <a:schemeClr val="tx1"/>
              </a:solidFill>
              <a:latin typeface="Arial" panose="020B0604020202020204" pitchFamily="34" charset="0"/>
              <a:cs typeface="Arial" panose="020B0604020202020204" pitchFamily="34" charset="0"/>
            </a:endParaRPr>
          </a:p>
          <a:p>
            <a:r>
              <a:rPr lang="es-PE" sz="2300" dirty="0">
                <a:solidFill>
                  <a:schemeClr val="tx1"/>
                </a:solidFill>
                <a:latin typeface="Arial" panose="020B0604020202020204" pitchFamily="34" charset="0"/>
                <a:cs typeface="Arial" panose="020B0604020202020204" pitchFamily="34" charset="0"/>
              </a:rPr>
              <a:t>El diseño de la investigación es no experimental, porque los datos que han sido extraídos mediante el instrumento no se van a manipular y de las cuales serán procesados para la obtención de los resultados; también es prospectivo, porque los datos se forman de fuente primaria creado a interés del investigador sobre los procedimientos realizados en cada una de las empresas con respecto al monitoreo del costo y por último es una investigación transversal, porque para el estado situacional se hace un corte en una línea base y en ese momento se analizará el costo real, el planificado y el valorizado ósea se mide una sola vez.</a:t>
            </a:r>
          </a:p>
          <a:p>
            <a:r>
              <a:rPr lang="es-PE" sz="2300" dirty="0">
                <a:solidFill>
                  <a:schemeClr val="tx1"/>
                </a:solidFill>
                <a:latin typeface="Arial" panose="020B0604020202020204" pitchFamily="34" charset="0"/>
                <a:cs typeface="Arial" panose="020B0604020202020204" pitchFamily="34" charset="0"/>
              </a:rPr>
              <a:t>Finalmente el estudio del diseño de la investigación es caso – control, porque se analizará el efecto ósea el Estado Situacional y cuales  han sido las causas que lo originaron por mal control, mala logística, por equipo inadecuados o por materiales retrasados.</a:t>
            </a:r>
          </a:p>
          <a:p>
            <a:endParaRPr lang="es-PE" dirty="0"/>
          </a:p>
        </p:txBody>
      </p:sp>
      <p:sp>
        <p:nvSpPr>
          <p:cNvPr id="3" name="Título 2"/>
          <p:cNvSpPr>
            <a:spLocks noGrp="1"/>
          </p:cNvSpPr>
          <p:nvPr>
            <p:ph type="title"/>
          </p:nvPr>
        </p:nvSpPr>
        <p:spPr/>
        <p:txBody>
          <a:bodyPr/>
          <a:lstStyle/>
          <a:p>
            <a:endParaRPr lang="es-PE"/>
          </a:p>
        </p:txBody>
      </p:sp>
    </p:spTree>
    <p:extLst>
      <p:ext uri="{BB962C8B-B14F-4D97-AF65-F5344CB8AC3E}">
        <p14:creationId xmlns:p14="http://schemas.microsoft.com/office/powerpoint/2010/main" val="4224549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Forma de onda">
  <a:themeElements>
    <a:clrScheme name="Forma de onda">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Forma de onda">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orma de onda">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1419</TotalTime>
  <Words>1479</Words>
  <Application>Microsoft Office PowerPoint</Application>
  <PresentationFormat>Presentación en pantalla (4:3)</PresentationFormat>
  <Paragraphs>78</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Candara</vt:lpstr>
      <vt:lpstr>Symbol</vt:lpstr>
      <vt:lpstr>1_Forma de onda</vt:lpstr>
      <vt:lpstr>UNIVERSIDAD NACIONAL FEDERICO VILLARREAL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Luffi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Caso</dc:title>
  <dc:creator>Luffi</dc:creator>
  <cp:lastModifiedBy>Irving Olaya Aller</cp:lastModifiedBy>
  <cp:revision>81</cp:revision>
  <dcterms:created xsi:type="dcterms:W3CDTF">2015-06-06T20:22:47Z</dcterms:created>
  <dcterms:modified xsi:type="dcterms:W3CDTF">2025-11-01T05:40:48Z</dcterms:modified>
</cp:coreProperties>
</file>